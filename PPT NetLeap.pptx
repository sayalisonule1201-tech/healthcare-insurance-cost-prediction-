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A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BFFA1-D144-4ACC-BD81-4904C4775C08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9EFAF-824F-43B7-9BEF-FD1CAB148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22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9EFAF-824F-43B7-9BEF-FD1CAB148E0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1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44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43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32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66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8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41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4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0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57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79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3075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18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0941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27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249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60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7DC58-C210-4A2B-B9AA-0E3D7085C2E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FCB5443-EA8F-4CA2-B5E8-F76A291432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93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commonwealthfund.org/sites/default/files/2024-11/PDF_Collins_state_of_health_insurance_coverage_2024_biennial_Exhibits.pdf?utm_source=chatgp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www.cdc.gov/nchs/data/nhis/earlyrelease/insur202506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Source/MachineLearningR__Brett_Lantz.pd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kaggle.com/datasets/teertha/ushealthinsurancedataset/data" TargetMode="External"/><Relationship Id="rId7" Type="http://schemas.openxmlformats.org/officeDocument/2006/relationships/hyperlink" Target="https://github.com/SnehalSonawane123/Netleap-Insuarace-Final-App-1/blob/main/Insuarance(gbr).pkl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hyperlink" Target="https://netleap-insuarace-final-app-2-vlxlbx2u5a5mrxaqokdic5.streamlit.app/" TargetMode="External"/><Relationship Id="rId5" Type="http://schemas.openxmlformats.org/officeDocument/2006/relationships/hyperlink" Target="https://colab.research.google.com/drive/1vQAu9ip6EfkNsw5tEaWcrOrK-f0db2Sx?usp=sharing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hyperlink" Target="https://github.com/SnehalSonawane123/Netleap-Insuarace-Final-App-1/blob/main/app.p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03EECD-114A-ED03-C9C1-8A7D482658B3}"/>
              </a:ext>
            </a:extLst>
          </p:cNvPr>
          <p:cNvSpPr txBox="1"/>
          <p:nvPr/>
        </p:nvSpPr>
        <p:spPr>
          <a:xfrm>
            <a:off x="4038600" y="1049185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5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34BA5-097F-50FB-F568-4755F20495AD}"/>
              </a:ext>
            </a:extLst>
          </p:cNvPr>
          <p:cNvSpPr txBox="1"/>
          <p:nvPr/>
        </p:nvSpPr>
        <p:spPr>
          <a:xfrm>
            <a:off x="3470188" y="210341"/>
            <a:ext cx="7057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0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78F8B-591B-D0FC-5B2B-BA51D7D4A119}"/>
              </a:ext>
            </a:extLst>
          </p:cNvPr>
          <p:cNvSpPr txBox="1"/>
          <p:nvPr/>
        </p:nvSpPr>
        <p:spPr>
          <a:xfrm>
            <a:off x="763027" y="1858495"/>
            <a:ext cx="6206184" cy="218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buNone/>
            </a:pPr>
            <a:r>
              <a:rPr lang="en-US" sz="23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</a:t>
            </a:r>
            <a:r>
              <a:rPr lang="en-US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 Prediction</a:t>
            </a:r>
            <a:endParaRPr lang="en-US" sz="2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buNone/>
            </a:pPr>
            <a:r>
              <a:rPr lang="en-US" sz="23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: </a:t>
            </a:r>
            <a:r>
              <a:rPr lang="en-US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Machine Learning Approach</a:t>
            </a:r>
            <a:endParaRPr lang="en-US" sz="2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E44A5-EF58-96F3-5E96-13591B8B69D0}"/>
              </a:ext>
            </a:extLst>
          </p:cNvPr>
          <p:cNvSpPr txBox="1"/>
          <p:nvPr/>
        </p:nvSpPr>
        <p:spPr>
          <a:xfrm>
            <a:off x="756595" y="3940034"/>
            <a:ext cx="6100118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buNone/>
            </a:pPr>
            <a:r>
              <a:rPr lang="en-IN" sz="23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230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Kartiki Pansare (4618)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Sakshi Shinde (4646)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Snehal Sonawane (4650)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Sayali Sonule (4652)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ACEB98-50E4-7E8D-3AC5-16C6CE72F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6" t="6180" r="4567" b="4718"/>
          <a:stretch>
            <a:fillRect/>
          </a:stretch>
        </p:blipFill>
        <p:spPr>
          <a:xfrm>
            <a:off x="6863145" y="1435825"/>
            <a:ext cx="4836334" cy="472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1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42649-1C4C-60EA-B4F5-931E867ADA9A}"/>
              </a:ext>
            </a:extLst>
          </p:cNvPr>
          <p:cNvSpPr txBox="1"/>
          <p:nvPr/>
        </p:nvSpPr>
        <p:spPr>
          <a:xfrm>
            <a:off x="3887226" y="300517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3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OTIVATION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A0F45-F252-A533-8C32-6998530E4A0D}"/>
              </a:ext>
            </a:extLst>
          </p:cNvPr>
          <p:cNvSpPr txBox="1"/>
          <p:nvPr/>
        </p:nvSpPr>
        <p:spPr>
          <a:xfrm>
            <a:off x="397471" y="1349233"/>
            <a:ext cx="656865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of Americans delay or avoid health insurance due to cost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factors (smoking, obesity) can increase premiums by 50-200%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tool shows how health changes reduce costs before applying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3AEFE-3A58-7A4C-26CC-520A5CC00423}"/>
              </a:ext>
            </a:extLst>
          </p:cNvPr>
          <p:cNvSpPr txBox="1"/>
          <p:nvPr/>
        </p:nvSpPr>
        <p:spPr>
          <a:xfrm>
            <a:off x="397471" y="4734115"/>
            <a:ext cx="775799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Differentiators:</a:t>
            </a:r>
            <a:endParaRPr lang="en-US" sz="17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All-in-One: Combines cost prediction + health assessment + savings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Predictions: Shows how lifestyle changes affect future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Privacy-First: Only 6 anonymous metrics (no name, email, SSN)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01393-4C22-F800-E604-B10E3B8094D1}"/>
              </a:ext>
            </a:extLst>
          </p:cNvPr>
          <p:cNvSpPr txBox="1"/>
          <p:nvPr/>
        </p:nvSpPr>
        <p:spPr>
          <a:xfrm>
            <a:off x="378934" y="3213787"/>
            <a:ext cx="701658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Calculators (Oscar, Kaiser, UnitedHealthcare) - Basic quotes, no health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Healthcare.gov - Premium costs, no health impact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Risk Tools (WebMD, Mayo Clinic) - Disease risk, no cost connection</a:t>
            </a: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8CDEBA25-DEBC-6C3A-FD96-0B65B6035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3357" r="6092" b="2969"/>
          <a:stretch>
            <a:fillRect/>
          </a:stretch>
        </p:blipFill>
        <p:spPr>
          <a:xfrm>
            <a:off x="8746933" y="3646391"/>
            <a:ext cx="2759676" cy="3098665"/>
          </a:xfrm>
          <a:prstGeom prst="rect">
            <a:avLst/>
          </a:prstGeom>
        </p:spPr>
      </p:pic>
      <p:pic>
        <p:nvPicPr>
          <p:cNvPr id="6" name="Picture 5">
            <a:hlinkClick r:id="rId4"/>
            <a:extLst>
              <a:ext uri="{FF2B5EF4-FFF2-40B4-BE49-F238E27FC236}">
                <a16:creationId xmlns:a16="http://schemas.microsoft.com/office/drawing/2014/main" id="{D24EA8E7-0321-1123-2BB1-015BA0676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1"/>
          <a:stretch>
            <a:fillRect/>
          </a:stretch>
        </p:blipFill>
        <p:spPr>
          <a:xfrm>
            <a:off x="7458548" y="602346"/>
            <a:ext cx="4557155" cy="282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465C3A-BDB4-3293-B349-257579F4A7CF}"/>
              </a:ext>
            </a:extLst>
          </p:cNvPr>
          <p:cNvSpPr txBox="1"/>
          <p:nvPr/>
        </p:nvSpPr>
        <p:spPr>
          <a:xfrm>
            <a:off x="4891254" y="88556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en-IN" sz="35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DF1CD0-A661-9806-A97A-83A89EE70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890" y="1272140"/>
            <a:ext cx="5835310" cy="33698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626C2C8-F46F-A5FA-1BC2-89F15CFD23A3}"/>
              </a:ext>
            </a:extLst>
          </p:cNvPr>
          <p:cNvSpPr txBox="1"/>
          <p:nvPr/>
        </p:nvSpPr>
        <p:spPr>
          <a:xfrm>
            <a:off x="469325" y="930281"/>
            <a:ext cx="5461390" cy="5839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 &amp; Analysis (Kaggle, Excel, Google Colab / Jupyter Notebook):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historical insurance data, clean it, handle missing values, and explore patterns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(Kaggle Dataset Obtained from Book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"Machine Learning with R", by Brett Lanz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Feature Engineering (Python / Pandas):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categorical variables and create new features if needed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54A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Training (Scikit-learn):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suitable ML algorithm and train the model on historical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ACE9BB-26A3-D642-38B6-ACBAA87B1938}"/>
              </a:ext>
            </a:extLst>
          </p:cNvPr>
          <p:cNvSpPr txBox="1"/>
          <p:nvPr/>
        </p:nvSpPr>
        <p:spPr>
          <a:xfrm>
            <a:off x="7941313" y="4920772"/>
            <a:ext cx="26201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22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6F082E-5D21-D1FC-DC9A-76994255509B}"/>
              </a:ext>
            </a:extLst>
          </p:cNvPr>
          <p:cNvSpPr txBox="1"/>
          <p:nvPr/>
        </p:nvSpPr>
        <p:spPr>
          <a:xfrm>
            <a:off x="420071" y="220178"/>
            <a:ext cx="9581366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(Matplotlib, Seaborn, Scikit-learn):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model performance using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like MAE, RMSE, R² and visualize errors</a:t>
            </a: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 (Pickle .pkl):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trained model for future use without retraining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Deployment &amp; Prediction (Streamlit / app.py, Streamlit UI, Plotly):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interactive app, take user input, predict insurance cost, and display results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 &amp; Download (Streamlit, Pandas):</a:t>
            </a: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downloadable summaries or reports for users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7A67B5F1-97B7-43E4-0870-73348A1702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" b="4348"/>
          <a:stretch>
            <a:fillRect/>
          </a:stretch>
        </p:blipFill>
        <p:spPr>
          <a:xfrm>
            <a:off x="488351" y="5218788"/>
            <a:ext cx="1421996" cy="527222"/>
          </a:xfrm>
          <a:prstGeom prst="rect">
            <a:avLst/>
          </a:prstGeom>
        </p:spPr>
      </p:pic>
      <p:pic>
        <p:nvPicPr>
          <p:cNvPr id="6" name="Picture 5">
            <a:hlinkClick r:id="rId5"/>
            <a:extLst>
              <a:ext uri="{FF2B5EF4-FFF2-40B4-BE49-F238E27FC236}">
                <a16:creationId xmlns:a16="http://schemas.microsoft.com/office/drawing/2014/main" id="{5369FCCB-86D8-EB97-685E-1E1D60FE38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617" y="5139027"/>
            <a:ext cx="1045425" cy="686743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E273BDCC-D4FF-D1DB-BCB2-67AFB7232C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984" y="5088443"/>
            <a:ext cx="746692" cy="876007"/>
          </a:xfrm>
          <a:prstGeom prst="rect">
            <a:avLst/>
          </a:prstGeom>
        </p:spPr>
      </p:pic>
      <p:pic>
        <p:nvPicPr>
          <p:cNvPr id="11" name="Picture 10">
            <a:hlinkClick r:id="rId9"/>
            <a:extLst>
              <a:ext uri="{FF2B5EF4-FFF2-40B4-BE49-F238E27FC236}">
                <a16:creationId xmlns:a16="http://schemas.microsoft.com/office/drawing/2014/main" id="{8B585C8B-D198-1E33-8C50-084BA0F5D4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418" y="5017805"/>
            <a:ext cx="867227" cy="922491"/>
          </a:xfrm>
          <a:prstGeom prst="rect">
            <a:avLst/>
          </a:prstGeom>
        </p:spPr>
      </p:pic>
      <p:pic>
        <p:nvPicPr>
          <p:cNvPr id="13" name="Picture 12">
            <a:hlinkClick r:id="rId11"/>
            <a:extLst>
              <a:ext uri="{FF2B5EF4-FFF2-40B4-BE49-F238E27FC236}">
                <a16:creationId xmlns:a16="http://schemas.microsoft.com/office/drawing/2014/main" id="{9EBF0D27-8BCC-8DE4-3DFC-4E49D6C96E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14044" r="1741" b="8015"/>
          <a:stretch>
            <a:fillRect/>
          </a:stretch>
        </p:blipFill>
        <p:spPr>
          <a:xfrm>
            <a:off x="8128320" y="5139027"/>
            <a:ext cx="1112640" cy="7380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412F98-D354-59CD-9587-D911317F7D91}"/>
              </a:ext>
            </a:extLst>
          </p:cNvPr>
          <p:cNvSpPr txBox="1"/>
          <p:nvPr/>
        </p:nvSpPr>
        <p:spPr>
          <a:xfrm>
            <a:off x="7923691" y="5902687"/>
            <a:ext cx="1840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via Streamlit (GitHub Integration)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79C14F-441F-BEC3-F2CE-6EAB87AB850C}"/>
              </a:ext>
            </a:extLst>
          </p:cNvPr>
          <p:cNvSpPr txBox="1"/>
          <p:nvPr/>
        </p:nvSpPr>
        <p:spPr>
          <a:xfrm>
            <a:off x="6057773" y="5907412"/>
            <a:ext cx="2011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app.py &amp; requirements.txt (GitHub)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590BE8-8C68-2825-D3B2-0C53D752C800}"/>
              </a:ext>
            </a:extLst>
          </p:cNvPr>
          <p:cNvSpPr txBox="1"/>
          <p:nvPr/>
        </p:nvSpPr>
        <p:spPr>
          <a:xfrm>
            <a:off x="4434769" y="5940296"/>
            <a:ext cx="1301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(.pkl)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0F8662-8CB9-0419-3C2A-6D0038050B24}"/>
              </a:ext>
            </a:extLst>
          </p:cNvPr>
          <p:cNvSpPr txBox="1"/>
          <p:nvPr/>
        </p:nvSpPr>
        <p:spPr>
          <a:xfrm>
            <a:off x="2548854" y="5860592"/>
            <a:ext cx="1564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Analysis (.ipynb)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0E4EBD-5141-B638-EDDA-5D56291AEA04}"/>
              </a:ext>
            </a:extLst>
          </p:cNvPr>
          <p:cNvSpPr txBox="1"/>
          <p:nvPr/>
        </p:nvSpPr>
        <p:spPr>
          <a:xfrm>
            <a:off x="488351" y="5845275"/>
            <a:ext cx="1564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CDDEF95-35AF-99AB-D910-6109B763A43C}"/>
              </a:ext>
            </a:extLst>
          </p:cNvPr>
          <p:cNvSpPr/>
          <p:nvPr/>
        </p:nvSpPr>
        <p:spPr>
          <a:xfrm>
            <a:off x="2095082" y="5365910"/>
            <a:ext cx="475807" cy="2636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4C2CED4-68AD-BFE9-22A9-D5C79C592B49}"/>
              </a:ext>
            </a:extLst>
          </p:cNvPr>
          <p:cNvSpPr/>
          <p:nvPr/>
        </p:nvSpPr>
        <p:spPr>
          <a:xfrm>
            <a:off x="3849342" y="5334117"/>
            <a:ext cx="475807" cy="2636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07D05E0-4E57-5D9C-9806-3AF32C8150BF}"/>
              </a:ext>
            </a:extLst>
          </p:cNvPr>
          <p:cNvSpPr/>
          <p:nvPr/>
        </p:nvSpPr>
        <p:spPr>
          <a:xfrm>
            <a:off x="5467554" y="5310998"/>
            <a:ext cx="475807" cy="2636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77D79AE-BB6B-6274-4FD2-1BCB1EFAFF30}"/>
              </a:ext>
            </a:extLst>
          </p:cNvPr>
          <p:cNvSpPr/>
          <p:nvPr/>
        </p:nvSpPr>
        <p:spPr>
          <a:xfrm>
            <a:off x="7269950" y="5278761"/>
            <a:ext cx="475807" cy="26361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370032E-4021-B0B5-EFD0-48BC8FFB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2" y="4642219"/>
            <a:ext cx="59856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54A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 &amp; Deployment Flow (With </a:t>
            </a:r>
            <a:r>
              <a:rPr lang="en-US" altLang="en-US" b="1" dirty="0">
                <a:solidFill>
                  <a:srgbClr val="54A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54A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inks):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70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7DCDF3-7C2F-8273-604C-255CA1296EDD}"/>
              </a:ext>
            </a:extLst>
          </p:cNvPr>
          <p:cNvSpPr txBox="1"/>
          <p:nvPr/>
        </p:nvSpPr>
        <p:spPr>
          <a:xfrm>
            <a:off x="270833" y="576526"/>
            <a:ext cx="711719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Gradient Boosting Regressor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≈ </a:t>
            </a:r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2410</a:t>
            </a:r>
            <a:endParaRPr lang="en-IN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≈ </a:t>
            </a:r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4314</a:t>
            </a:r>
            <a:endParaRPr lang="en-IN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≈ </a:t>
            </a:r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rgbClr val="54A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Regressor:</a:t>
            </a:r>
            <a:endParaRPr lang="en-US" sz="1600" dirty="0">
              <a:solidFill>
                <a:srgbClr val="54A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≈ 2,550 - 2,800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≈ 4,500 - 4,800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≈ 0.85 - 0.86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rgbClr val="54A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Regression:</a:t>
            </a:r>
            <a:endParaRPr lang="en-US" sz="1600" dirty="0">
              <a:solidFill>
                <a:srgbClr val="54A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≈ 4,200 - 4,500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≈ 6,000 - 6,500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 ≈ 0.75 - 0.78</a:t>
            </a:r>
          </a:p>
          <a:p>
            <a:endParaRPr lang="en-IN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rgbClr val="54A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1600" dirty="0">
              <a:solidFill>
                <a:srgbClr val="54A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better than 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complex and non-linear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insurance cost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automated estimation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rgbClr val="54A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Indian Dataset Integration - Adapt to Indian insurance patterns and demographics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Live Health Tracking - Real-time cost updates as health improves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Insurer Partnerships - Direct plan comparison and policy purchase</a:t>
            </a:r>
          </a:p>
          <a:p>
            <a:endParaRPr lang="en-IN" sz="2000" b="1" dirty="0">
              <a:solidFill>
                <a:srgbClr val="54A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13919-DBFF-3FB5-BE6E-8F26329BF9E8}"/>
              </a:ext>
            </a:extLst>
          </p:cNvPr>
          <p:cNvSpPr txBox="1"/>
          <p:nvPr/>
        </p:nvSpPr>
        <p:spPr>
          <a:xfrm>
            <a:off x="4154762" y="49139"/>
            <a:ext cx="61001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D5E348-DE51-C1B0-FEEE-BF1FC5D43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821" y="152109"/>
            <a:ext cx="4716346" cy="3168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0AA698-645F-8FC6-E963-98C9BED67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1" t="9200" r="12483" b="9459"/>
          <a:stretch>
            <a:fillRect/>
          </a:stretch>
        </p:blipFill>
        <p:spPr>
          <a:xfrm>
            <a:off x="7743563" y="3423390"/>
            <a:ext cx="3638857" cy="2853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C74159-08D0-BB05-B19A-91DCD3990FD1}"/>
              </a:ext>
            </a:extLst>
          </p:cNvPr>
          <p:cNvSpPr txBox="1"/>
          <p:nvPr/>
        </p:nvSpPr>
        <p:spPr>
          <a:xfrm>
            <a:off x="8434129" y="6379418"/>
            <a:ext cx="24315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Deployment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7764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361</TotalTime>
  <Words>505</Words>
  <Application>Microsoft Office PowerPoint</Application>
  <PresentationFormat>Widescreen</PresentationFormat>
  <Paragraphs>74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Snehal Sonawane</dc:creator>
  <cp:lastModifiedBy>Snehal Sonawane</cp:lastModifiedBy>
  <cp:revision>10</cp:revision>
  <dcterms:created xsi:type="dcterms:W3CDTF">2026-01-12T07:04:25Z</dcterms:created>
  <dcterms:modified xsi:type="dcterms:W3CDTF">2026-01-13T05:31:52Z</dcterms:modified>
</cp:coreProperties>
</file>