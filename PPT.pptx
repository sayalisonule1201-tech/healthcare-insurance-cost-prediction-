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4" r:id="rId9"/>
    <p:sldId id="267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47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92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4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63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55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9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42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43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02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0323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805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2539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97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05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87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00BD9-FF05-4593-B3AF-6A2E0312DC7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2A3D913-99B4-435C-94A1-BF2CB3505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28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insurance.csv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03EECD-114A-ED03-C9C1-8A7D482658B3}"/>
              </a:ext>
            </a:extLst>
          </p:cNvPr>
          <p:cNvSpPr txBox="1"/>
          <p:nvPr/>
        </p:nvSpPr>
        <p:spPr>
          <a:xfrm>
            <a:off x="4038600" y="1049185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5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34BA5-097F-50FB-F568-4755F20495AD}"/>
              </a:ext>
            </a:extLst>
          </p:cNvPr>
          <p:cNvSpPr txBox="1"/>
          <p:nvPr/>
        </p:nvSpPr>
        <p:spPr>
          <a:xfrm>
            <a:off x="3470188" y="210341"/>
            <a:ext cx="7057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78F8B-591B-D0FC-5B2B-BA51D7D4A119}"/>
              </a:ext>
            </a:extLst>
          </p:cNvPr>
          <p:cNvSpPr txBox="1"/>
          <p:nvPr/>
        </p:nvSpPr>
        <p:spPr>
          <a:xfrm>
            <a:off x="763027" y="1858495"/>
            <a:ext cx="6206184" cy="218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buNone/>
            </a:pPr>
            <a:r>
              <a:rPr lang="en-US" sz="23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</a:t>
            </a:r>
            <a:r>
              <a:rPr lang="en-US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</a:t>
            </a:r>
            <a:endParaRPr lang="en-US" sz="2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buNone/>
            </a:pPr>
            <a:r>
              <a:rPr lang="en-US" sz="23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: </a:t>
            </a:r>
            <a:r>
              <a:rPr lang="en-US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Machine Learning Approach</a:t>
            </a:r>
            <a:endParaRPr lang="en-US" sz="2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E44A5-EF58-96F3-5E96-13591B8B69D0}"/>
              </a:ext>
            </a:extLst>
          </p:cNvPr>
          <p:cNvSpPr txBox="1"/>
          <p:nvPr/>
        </p:nvSpPr>
        <p:spPr>
          <a:xfrm>
            <a:off x="756595" y="3940034"/>
            <a:ext cx="6100118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buNone/>
            </a:pPr>
            <a:r>
              <a:rPr lang="en-IN" sz="23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230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Kartiki Pansare (4618)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Sakshi Shinde (4646)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Snehal Sonawane (4650)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Sayali Sonule (4652)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ACEB98-50E4-7E8D-3AC5-16C6CE72F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6" t="6180" r="4567" b="4718"/>
          <a:stretch>
            <a:fillRect/>
          </a:stretch>
        </p:blipFill>
        <p:spPr>
          <a:xfrm>
            <a:off x="6863145" y="1435825"/>
            <a:ext cx="4836334" cy="472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1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9BF4C3-1F58-4775-A674-6AAE3ACFF698}"/>
              </a:ext>
            </a:extLst>
          </p:cNvPr>
          <p:cNvSpPr txBox="1"/>
          <p:nvPr/>
        </p:nvSpPr>
        <p:spPr>
          <a:xfrm>
            <a:off x="2919842" y="264234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5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4104B-C944-DE68-F373-18CC02D56ABF}"/>
              </a:ext>
            </a:extLst>
          </p:cNvPr>
          <p:cNvSpPr txBox="1"/>
          <p:nvPr/>
        </p:nvSpPr>
        <p:spPr>
          <a:xfrm>
            <a:off x="768177" y="1249739"/>
            <a:ext cx="6100118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depends on multiple user and health-related factors, making manual estimation inefficient and error-prone.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the insurance industry uses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and actuarial 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rely on fixed formulas based on age, gender, medical history, and lifestyle.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models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linear regression, logistic regression, and generalized linear models analyze historical data to estimate risk and cost.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traditional approaches lack flexibility and often struggle to capture complex and non-linear patterns in data.</a:t>
            </a:r>
          </a:p>
        </p:txBody>
      </p:sp>
    </p:spTree>
    <p:extLst>
      <p:ext uri="{BB962C8B-B14F-4D97-AF65-F5344CB8AC3E}">
        <p14:creationId xmlns:p14="http://schemas.microsoft.com/office/powerpoint/2010/main" val="322366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6F8CFB-3249-C966-F44B-03B7F7B30D2D}"/>
              </a:ext>
            </a:extLst>
          </p:cNvPr>
          <p:cNvSpPr txBox="1"/>
          <p:nvPr/>
        </p:nvSpPr>
        <p:spPr>
          <a:xfrm>
            <a:off x="743559" y="1249006"/>
            <a:ext cx="6983531" cy="504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Approach: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insurance data is collected and preprocessed to handle missing values and encode categorical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is trained to learn patterns between user/health factors and insurance costs.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deployed to predict costs accurately for new users, making estimation fast and error-free.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ML in other fields: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Healthcare, finance, retail, transportation, and agriculture for prediction, optimization, and automation.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0213-FCB7-C988-B34F-0F414E51FB48}"/>
              </a:ext>
            </a:extLst>
          </p:cNvPr>
          <p:cNvSpPr txBox="1"/>
          <p:nvPr/>
        </p:nvSpPr>
        <p:spPr>
          <a:xfrm>
            <a:off x="3628296" y="244640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</p:txBody>
      </p:sp>
    </p:spTree>
    <p:extLst>
      <p:ext uri="{BB962C8B-B14F-4D97-AF65-F5344CB8AC3E}">
        <p14:creationId xmlns:p14="http://schemas.microsoft.com/office/powerpoint/2010/main" val="887577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465C3A-BDB4-3293-B349-257579F4A7CF}"/>
              </a:ext>
            </a:extLst>
          </p:cNvPr>
          <p:cNvSpPr txBox="1"/>
          <p:nvPr/>
        </p:nvSpPr>
        <p:spPr>
          <a:xfrm>
            <a:off x="2905936" y="154268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5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DF1CD0-A661-9806-A97A-83A89EE70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0470"/>
            <a:ext cx="5835310" cy="33698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626C2C8-F46F-A5FA-1BC2-89F15CFD23A3}"/>
              </a:ext>
            </a:extLst>
          </p:cNvPr>
          <p:cNvSpPr txBox="1"/>
          <p:nvPr/>
        </p:nvSpPr>
        <p:spPr>
          <a:xfrm>
            <a:off x="268291" y="1065298"/>
            <a:ext cx="5699161" cy="396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Analysis (Kaggle, Excel, Google Colab / Jupyter Notebook):</a:t>
            </a:r>
            <a:r>
              <a:rPr lang="en-IN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historical insurance data, clean it, handle missing values, and explore patterns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(Python / Pandas):</a:t>
            </a:r>
            <a:r>
              <a:rPr lang="en-IN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categorical variables and create new features if needed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Training (Scikit-learn):</a:t>
            </a:r>
            <a:r>
              <a:rPr lang="en-IN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suitable ML algorithm and train the model on historical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(Matplotlib, Seaborn, Scikit-learn):</a:t>
            </a:r>
            <a:r>
              <a:rPr lang="en-IN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model performance using metrics like MAE, RMSE, R² and visualize errors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8322D-CE14-BFF3-3C9F-79F7864DF0B1}"/>
              </a:ext>
            </a:extLst>
          </p:cNvPr>
          <p:cNvSpPr txBox="1"/>
          <p:nvPr/>
        </p:nvSpPr>
        <p:spPr>
          <a:xfrm>
            <a:off x="268291" y="4915743"/>
            <a:ext cx="9751540" cy="161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 (Pickle .pkl):</a:t>
            </a:r>
            <a:r>
              <a:rPr lang="en-IN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trained model for future use without retraining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Deployment &amp; Prediction (Streamlit / app.py, Streamlit UI, Plotly):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interactive app, take user input, predict insurance cost, and display results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 &amp; Download (Streamlit, Pandas):</a:t>
            </a:r>
            <a:r>
              <a:rPr lang="en-IN" sz="17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downloadable summaries or reports for users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ACE9BB-26A3-D642-38B6-ACBAA87B1938}"/>
              </a:ext>
            </a:extLst>
          </p:cNvPr>
          <p:cNvSpPr txBox="1"/>
          <p:nvPr/>
        </p:nvSpPr>
        <p:spPr>
          <a:xfrm>
            <a:off x="7869195" y="4450989"/>
            <a:ext cx="26201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22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690CC3-91D6-9FF4-4DE8-AC7A376E88B6}"/>
              </a:ext>
            </a:extLst>
          </p:cNvPr>
          <p:cNvSpPr txBox="1"/>
          <p:nvPr/>
        </p:nvSpPr>
        <p:spPr>
          <a:xfrm>
            <a:off x="2465173" y="198393"/>
            <a:ext cx="767560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D3A234-46FF-BB4B-3FB2-119B32C09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36" y="3446933"/>
            <a:ext cx="7239170" cy="258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1338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(age, gender, BMI, children, smoker, region)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charges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the target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is stored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contains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encoded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numerical values for modeling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is split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sets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(80–20)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5D105-FFA8-8AF5-E408-390C508EF494}"/>
              </a:ext>
            </a:extLst>
          </p:cNvPr>
          <p:cNvSpPr txBox="1"/>
          <p:nvPr/>
        </p:nvSpPr>
        <p:spPr>
          <a:xfrm>
            <a:off x="507752" y="1096342"/>
            <a:ext cx="6100118" cy="216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Origin: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health insurance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dataset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from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census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source: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– US Health Insurance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originally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with 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</a:t>
            </a:r>
          </a:p>
        </p:txBody>
      </p:sp>
      <p:pic>
        <p:nvPicPr>
          <p:cNvPr id="11" name="Picture 10">
            <a:hlinkClick r:id="rId2" action="ppaction://hlinkfile"/>
            <a:extLst>
              <a:ext uri="{FF2B5EF4-FFF2-40B4-BE49-F238E27FC236}">
                <a16:creationId xmlns:a16="http://schemas.microsoft.com/office/drawing/2014/main" id="{7C2E3779-3F28-FC89-42F3-17421593F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08" y="912496"/>
            <a:ext cx="4295056" cy="51161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52622A-95DC-7BB2-F0E1-664F0F3C5666}"/>
              </a:ext>
            </a:extLst>
          </p:cNvPr>
          <p:cNvSpPr txBox="1"/>
          <p:nvPr/>
        </p:nvSpPr>
        <p:spPr>
          <a:xfrm>
            <a:off x="8830683" y="6111826"/>
            <a:ext cx="14254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00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083081-4961-43DE-83BA-DE729B076F89}"/>
              </a:ext>
            </a:extLst>
          </p:cNvPr>
          <p:cNvSpPr txBox="1"/>
          <p:nvPr/>
        </p:nvSpPr>
        <p:spPr>
          <a:xfrm>
            <a:off x="960002" y="1210384"/>
            <a:ext cx="610011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baseline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linear relationship between features and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of decision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data effectively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Boosting-based ensemble technique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weak learners for better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tuned for optimal performance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Multiple 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accuracy and select the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best-performing model</a:t>
            </a: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77BD5-7C3B-9C27-0848-38F5E155BB58}"/>
              </a:ext>
            </a:extLst>
          </p:cNvPr>
          <p:cNvSpPr txBox="1"/>
          <p:nvPr/>
        </p:nvSpPr>
        <p:spPr>
          <a:xfrm>
            <a:off x="2868827" y="223106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 TRAINING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A737D-2162-B6D8-18D2-89268BAC5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1117600"/>
            <a:ext cx="50927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8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7F3E59-463F-0B1D-AE39-7550093E815B}"/>
              </a:ext>
            </a:extLst>
          </p:cNvPr>
          <p:cNvSpPr txBox="1"/>
          <p:nvPr/>
        </p:nvSpPr>
        <p:spPr>
          <a:xfrm>
            <a:off x="1428089" y="1400298"/>
            <a:ext cx="674708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saved using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Pickle (.</a:t>
            </a:r>
            <a:r>
              <a:rPr lang="en-I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into a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Flask-based web application</a:t>
            </a:r>
          </a:p>
          <a:p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Prediction System</a:t>
            </a:r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personal and health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sent to backend Flask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predicts insurance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displayed on the web interface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2E122-A6C5-2557-279A-EBDF4EA2D69D}"/>
              </a:ext>
            </a:extLst>
          </p:cNvPr>
          <p:cNvSpPr txBox="1"/>
          <p:nvPr/>
        </p:nvSpPr>
        <p:spPr>
          <a:xfrm>
            <a:off x="2174790" y="231344"/>
            <a:ext cx="697538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PREDICTION</a:t>
            </a:r>
          </a:p>
        </p:txBody>
      </p:sp>
    </p:spTree>
    <p:extLst>
      <p:ext uri="{BB962C8B-B14F-4D97-AF65-F5344CB8AC3E}">
        <p14:creationId xmlns:p14="http://schemas.microsoft.com/office/powerpoint/2010/main" val="3891370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7DCDF3-7C2F-8273-604C-255CA1296EDD}"/>
              </a:ext>
            </a:extLst>
          </p:cNvPr>
          <p:cNvSpPr txBox="1"/>
          <p:nvPr/>
        </p:nvSpPr>
        <p:spPr>
          <a:xfrm>
            <a:off x="461614" y="1223113"/>
            <a:ext cx="711719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= ( |Actual − Predicted| ) / 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 (RMSE = √[ (Actual − Predicted)² / n 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Score(R² = 1 − ( Error / Total Variation ))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Gradient Boosting Regressor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≈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2410</a:t>
            </a:r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≈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4314</a:t>
            </a:r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≈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</a:t>
            </a:r>
          </a:p>
          <a:p>
            <a:endParaRPr lang="en-I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better than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 and non-linear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as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</a:t>
            </a: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insurance cost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automated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interface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13919-DBFF-3FB5-BE6E-8F26329BF9E8}"/>
              </a:ext>
            </a:extLst>
          </p:cNvPr>
          <p:cNvSpPr txBox="1"/>
          <p:nvPr/>
        </p:nvSpPr>
        <p:spPr>
          <a:xfrm>
            <a:off x="4528752" y="237008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D5E348-DE51-C1B0-FEEE-BF1FC5D43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492" y="372390"/>
            <a:ext cx="4716346" cy="3168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AA698-645F-8FC6-E963-98C9BED67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1" t="9200" r="12483" b="9459"/>
          <a:stretch>
            <a:fillRect/>
          </a:stretch>
        </p:blipFill>
        <p:spPr>
          <a:xfrm>
            <a:off x="7743567" y="3767934"/>
            <a:ext cx="3638857" cy="28530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877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039B-5375-904C-4173-F2DBBADD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92BDC9-4844-1F54-A2F5-3B577F815DA4}"/>
              </a:ext>
            </a:extLst>
          </p:cNvPr>
          <p:cNvSpPr txBox="1"/>
          <p:nvPr/>
        </p:nvSpPr>
        <p:spPr>
          <a:xfrm>
            <a:off x="4665192" y="0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816855-4145-761C-425C-0A13A6A93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4" t="18251" r="8936" b="4724"/>
          <a:stretch>
            <a:fillRect/>
          </a:stretch>
        </p:blipFill>
        <p:spPr>
          <a:xfrm>
            <a:off x="655442" y="905634"/>
            <a:ext cx="5064193" cy="2640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32E3FF-7293-8D84-C39A-7F1485E44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4" t="14054" r="9657" b="11169"/>
          <a:stretch>
            <a:fillRect/>
          </a:stretch>
        </p:blipFill>
        <p:spPr>
          <a:xfrm>
            <a:off x="6005389" y="905634"/>
            <a:ext cx="5239264" cy="2640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97FFCB-3828-E81E-2BA5-3DDA7C5C5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6" t="14053" r="9068" b="5399"/>
          <a:stretch>
            <a:fillRect/>
          </a:stretch>
        </p:blipFill>
        <p:spPr>
          <a:xfrm>
            <a:off x="655441" y="3821301"/>
            <a:ext cx="5064193" cy="26740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DE62F9-E729-383E-C538-0CC16A2D2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8" t="13942" r="8268" b="8464"/>
          <a:stretch>
            <a:fillRect/>
          </a:stretch>
        </p:blipFill>
        <p:spPr>
          <a:xfrm>
            <a:off x="6005389" y="3821301"/>
            <a:ext cx="5239264" cy="2739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53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0A4CC-16F0-F84B-E1A1-A204D691C10F}"/>
              </a:ext>
            </a:extLst>
          </p:cNvPr>
          <p:cNvSpPr txBox="1"/>
          <p:nvPr/>
        </p:nvSpPr>
        <p:spPr>
          <a:xfrm>
            <a:off x="1840813" y="215899"/>
            <a:ext cx="7387281" cy="630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EFED5-8D6D-DAE9-F8E0-2C425C31A9A3}"/>
              </a:ext>
            </a:extLst>
          </p:cNvPr>
          <p:cNvSpPr txBox="1"/>
          <p:nvPr/>
        </p:nvSpPr>
        <p:spPr>
          <a:xfrm>
            <a:off x="1054100" y="757694"/>
            <a:ext cx="810895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insurance cost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manual effort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calculation errors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efficiently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upgradable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analytics and decision 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depends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dataset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input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consider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policy-specific rules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may decrease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new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geographical regions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replace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expert judgment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8E1F69-4D9A-43DF-2DD1-70A3317BF304}"/>
              </a:ext>
            </a:extLst>
          </p:cNvPr>
          <p:cNvSpPr txBox="1"/>
          <p:nvPr/>
        </p:nvSpPr>
        <p:spPr>
          <a:xfrm>
            <a:off x="3050060" y="2692395"/>
            <a:ext cx="6100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32A8A-6D96-8ED3-1BF1-EB29C39175DD}"/>
              </a:ext>
            </a:extLst>
          </p:cNvPr>
          <p:cNvSpPr txBox="1"/>
          <p:nvPr/>
        </p:nvSpPr>
        <p:spPr>
          <a:xfrm>
            <a:off x="3717325" y="190155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77341-F629-8333-BCF2-5921B7775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419" y="-286273"/>
            <a:ext cx="9509759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mprove prediction accuracy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machine learning models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real-world features such as: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Income level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Lifestyle habits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and updated datasets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public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data security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insurance predictions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system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insurance company databases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the web application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enhanced prediction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190817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787</TotalTime>
  <Words>860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Snehal Sonawane</dc:creator>
  <cp:lastModifiedBy>Snehal Sonawane</cp:lastModifiedBy>
  <cp:revision>7</cp:revision>
  <dcterms:created xsi:type="dcterms:W3CDTF">2026-01-11T04:01:06Z</dcterms:created>
  <dcterms:modified xsi:type="dcterms:W3CDTF">2026-01-12T07:04:19Z</dcterms:modified>
</cp:coreProperties>
</file>